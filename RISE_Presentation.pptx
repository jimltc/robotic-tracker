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2011680"/>
            <a:ext cx="4754880" cy="4754880"/>
          </a:xfrm>
          <a:prstGeom prst="ellipse">
            <a:avLst/>
          </a:prstGeom>
          <a:solidFill>
            <a:srgbClr val="00606E">
              <a:alpha val="20000"/>
            </a:srgbClr>
          </a:solidFill>
          <a:ln w="12700">
            <a:solidFill>
              <a:srgbClr val="00606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822960"/>
            <a:ext cx="2743200" cy="2743200"/>
          </a:xfrm>
          <a:prstGeom prst="ellipse">
            <a:avLst/>
          </a:prstGeom>
          <a:solidFill>
            <a:srgbClr val="008C9E">
              <a:alpha val="30000"/>
            </a:srgbClr>
          </a:solidFill>
          <a:ln w="12700">
            <a:solidFill>
              <a:srgbClr val="008C9E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59436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</a:t>
            </a:r>
            <a:endParaRPr lang="en-US" sz="10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Instrument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E-documentation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2377440" cy="201168"/>
          </a:xfrm>
          <a:prstGeom prst="roundRect">
            <a:avLst>
              <a:gd name="adj" fmla="val 27273"/>
            </a:avLst>
          </a:prstGeom>
          <a:solidFill>
            <a:srgbClr val="00606E"/>
          </a:solidFill>
          <a:ln w="12700">
            <a:solidFill>
              <a:srgbClr val="0060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401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IMPROVEMENT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941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 General Hospital  ·  Robotics OT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Robotic Instruments Is Demanding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719072"/>
            <a:ext cx="475488" cy="475488"/>
          </a:xfrm>
          <a:prstGeom prst="ellipse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3258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1737360"/>
            <a:ext cx="3218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logs kept on paper — hard to search, error-prone, and slow to audit when something goes wrong.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01768" y="1719072"/>
            <a:ext cx="475488" cy="475488"/>
          </a:xfrm>
          <a:prstGeom prst="ellipse">
            <a:avLst/>
          </a:prstGeom>
          <a:solidFill>
            <a:srgbClr val="00606E"/>
          </a:solidFill>
          <a:ln w="12700">
            <a:solidFill>
              <a:srgbClr val="0060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0176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05272" y="13258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lifecycle visibility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05272" y="1737360"/>
            <a:ext cx="3218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remaining uses per instrument, making it hard to know when replacement is due.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" y="352044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16152" y="312724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fault records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3538728"/>
            <a:ext cx="3218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faults not consistently captured or linked to cases, obscuring recurring issues.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1768" y="3520440"/>
            <a:ext cx="475488" cy="475488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0176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05272" y="312724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gaps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05272" y="3538728"/>
            <a:ext cx="3218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records make incident review slow and difficult — reducing accountability when it matters most.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RISE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Complete Instrument Visibility.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is a purpose-built digital system for the Robotics OT team at Changi General Hospital — already live in the OT.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every robotic instrument and consumable across its full lifecycle — from first use to condemnation — and records every action in a tamper-evident audit trail.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team where nothing should fall through the cracks.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115568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96128" y="120700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76288" y="1207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76288" y="15727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· Consumables · Faults · Audit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2414016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96128" y="2505456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876288" y="25054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287121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triggers an audit trail entry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712464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96128" y="380390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3803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416966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are alerted if any audit write fails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RISE DOES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Modules. One System.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45920" cy="3246120"/>
          </a:xfrm>
          <a:prstGeom prst="roundRect">
            <a:avLst>
              <a:gd name="adj" fmla="val 4444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572768"/>
            <a:ext cx="603504" cy="603504"/>
          </a:xfrm>
          <a:prstGeom prst="ellipse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816352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 of all instruments and consumables at a glance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645920" cy="3246120"/>
          </a:xfrm>
          <a:prstGeom prst="roundRect">
            <a:avLst>
              <a:gd name="adj" fmla="val 4444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1572768"/>
            <a:ext cx="603504" cy="603504"/>
          </a:xfrm>
          <a:prstGeom prst="ellipse">
            <a:avLst/>
          </a:prstGeom>
          <a:solidFill>
            <a:srgbClr val="00606E"/>
          </a:solidFill>
          <a:ln w="12700">
            <a:solidFill>
              <a:srgbClr val="0060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3288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84832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816352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status, use count, and lifecycle of every robotic instrument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1280160"/>
            <a:ext cx="1645920" cy="3246120"/>
          </a:xfrm>
          <a:prstGeom prst="roundRect">
            <a:avLst>
              <a:gd name="adj" fmla="val 4444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1572768"/>
            <a:ext cx="603504" cy="603504"/>
          </a:xfrm>
          <a:prstGeom prst="ellipse">
            <a:avLst/>
          </a:prstGeom>
          <a:solidFill>
            <a:srgbClr val="008C9E"/>
          </a:solidFill>
          <a:ln w="12700">
            <a:solidFill>
              <a:srgbClr val="008C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7024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816352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stock balance and expiry dates for all consumable items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280160"/>
            <a:ext cx="1645920" cy="3246120"/>
          </a:xfrm>
          <a:prstGeom prst="roundRect">
            <a:avLst>
              <a:gd name="adj" fmla="val 4444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07608" y="1572768"/>
            <a:ext cx="603504" cy="6035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0760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559552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816352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track equipment faults linked to specific surgical cases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0" y="1280160"/>
            <a:ext cx="1645920" cy="3246120"/>
          </a:xfrm>
          <a:prstGeom prst="roundRect">
            <a:avLst>
              <a:gd name="adj" fmla="val 4444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44968" y="1572768"/>
            <a:ext cx="603504" cy="603504"/>
          </a:xfrm>
          <a:prstGeom prst="ellipse">
            <a:avLst/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4496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816352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 of every action — who did what, when, and why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NET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Action. Always Recorded.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is the most critical feature in RISE. Every write operation — logging instrument use, recording a fault, changing a status — follows a two-phase pattern that guarantees no action goes unrecorded.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95728"/>
            <a:ext cx="420624" cy="420624"/>
          </a:xfrm>
          <a:prstGeom prst="ellipse">
            <a:avLst/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Primary data saved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24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record is written first (status change, use count, etc.).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36976"/>
            <a:ext cx="420624" cy="420624"/>
          </a:xfrm>
          <a:prstGeom prst="ellipse">
            <a:avLst/>
          </a:prstGeom>
          <a:solidFill>
            <a:srgbClr val="00606E"/>
          </a:solidFill>
          <a:ln w="12700">
            <a:solidFill>
              <a:srgbClr val="0060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255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Audit entry created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audit record is immediately written as a second step.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078224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096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alert if audit fails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407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audit write fails, staff are warned on-screen to record it manually — no silent failures.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117043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1704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 an action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682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20640" y="201168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20116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Primary data saved  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523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20640" y="2852928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00606E"/>
          </a:solidFill>
          <a:ln w="12700">
            <a:solidFill>
              <a:srgbClr val="0060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0" y="28529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Audit entry created  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3649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120640" y="3694176"/>
            <a:ext cx="1719072" cy="475488"/>
          </a:xfrm>
          <a:prstGeom prst="roundRect">
            <a:avLst>
              <a:gd name="adj" fmla="val 11538"/>
            </a:avLst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369417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59168" y="3694176"/>
            <a:ext cx="1719072" cy="475488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59168" y="369417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record manually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IMPROVEMENT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RISE Changes the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3886200" cy="3639312"/>
          </a:xfrm>
          <a:prstGeom prst="roundRect">
            <a:avLst>
              <a:gd name="adj" fmla="val 2010"/>
            </a:avLst>
          </a:prstGeom>
          <a:solidFill>
            <a:srgbClr val="F0F4F6"/>
          </a:solidFill>
          <a:ln w="12700">
            <a:solidFill>
              <a:srgbClr val="C0CD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371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RISE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logbook entry for each instrument use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00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search through binders for records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2549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Faults noted informally — sometimes missed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009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requires manual record reconstruction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15968" y="2743200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983480" y="1207008"/>
            <a:ext cx="3886200" cy="3639312"/>
          </a:xfrm>
          <a:prstGeom prst="roundRect">
            <a:avLst>
              <a:gd name="adj" fmla="val 2010"/>
            </a:avLst>
          </a:prstGeom>
          <a:solidFill>
            <a:srgbClr val="EBF5F7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38928" y="1371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RISE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1874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tap — use logged instantly with timestamp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235000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 search — full history in seconds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282549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Faults captured and linked to cases in real time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3009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 audit trail — always current, always ready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Feedback Drives Every Update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is a living system. When staff spot an issue or have a suggestion, they message the team directly on WhatsApp. Fixes are implemented and deployed — often the same day.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971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OT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214884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331720"/>
            <a:ext cx="502920" cy="502920"/>
          </a:xfrm>
          <a:prstGeom prst="ellipse">
            <a:avLst/>
          </a:prstGeom>
          <a:solidFill>
            <a:srgbClr val="00606E"/>
          </a:solidFill>
          <a:ln w="12700">
            <a:solidFill>
              <a:srgbClr val="0060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146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971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or idea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49040" y="214884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331720"/>
            <a:ext cx="502920" cy="502920"/>
          </a:xfrm>
          <a:prstGeom prst="ellipse">
            <a:avLst/>
          </a:prstGeom>
          <a:solidFill>
            <a:srgbClr val="008C9E"/>
          </a:solidFill>
          <a:ln w="12700">
            <a:solidFill>
              <a:srgbClr val="008C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2971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40680" y="214884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33172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97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971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built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32320" y="214884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2331720"/>
            <a:ext cx="502920" cy="502920"/>
          </a:xfrm>
          <a:prstGeom prst="ellipse">
            <a:avLst/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71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ticketing  ·  Direct to developer  ·  Issues resolved fast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Patient Safety and Accountability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719072"/>
            <a:ext cx="475488" cy="475488"/>
          </a:xfrm>
          <a:prstGeom prst="ellipse">
            <a:avLst/>
          </a:prstGeom>
          <a:solidFill>
            <a:srgbClr val="00606E"/>
          </a:solidFill>
          <a:ln w="12700">
            <a:solidFill>
              <a:srgbClr val="0060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3075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instruments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1728216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 counts and status flags mean instruments are never unknowingly overused or overlooked.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01768" y="1719072"/>
            <a:ext cx="475488" cy="475488"/>
          </a:xfrm>
          <a:prstGeom prst="ellipse">
            <a:avLst/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0176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05272" y="13075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Airtight audit trail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05272" y="1728216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permanently recorded, making incident review fast, accurate, and trustworthy.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" y="3520440"/>
            <a:ext cx="475488" cy="475488"/>
          </a:xfrm>
          <a:prstGeom prst="ellipse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16152" y="31089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operations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3529584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workflows replace manual paperwork, saving time and reducing transcription errors in busy OT sessions.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8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1768" y="3520440"/>
            <a:ext cx="475488" cy="475488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0176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05272" y="31089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risk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05272" y="3529584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fault tracking and lifecycle alerts help prevent equipment failures before they happen.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286000"/>
            <a:ext cx="4754880" cy="4754880"/>
          </a:xfrm>
          <a:prstGeom prst="ellipse">
            <a:avLst/>
          </a:prstGeom>
          <a:solidFill>
            <a:srgbClr val="00606E">
              <a:alpha val="20000"/>
            </a:srgbClr>
          </a:solidFill>
          <a:ln w="12700">
            <a:solidFill>
              <a:srgbClr val="00606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731520"/>
            <a:ext cx="2743200" cy="2743200"/>
          </a:xfrm>
          <a:prstGeom prst="ellipse">
            <a:avLst/>
          </a:prstGeom>
          <a:solidFill>
            <a:srgbClr val="008C9E">
              <a:alpha val="30000"/>
            </a:srgbClr>
          </a:solidFill>
          <a:ln w="12700">
            <a:solidFill>
              <a:srgbClr val="008C9E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0" y="1005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2402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Instrument Smart E-documentation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 General Hospital  ·  Robotics OT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154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team. Designed for safety.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the RISE team.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2026-09-14T02:53:25Z</dcterms:created>
  <dcterms:modified xsi:type="dcterms:W3CDTF">2026-09-14T02:53:25Z</dcterms:modified>
</cp:coreProperties>
</file>
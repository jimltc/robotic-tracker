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2011680"/>
            <a:ext cx="4754880" cy="4754880"/>
          </a:xfrm>
          <a:prstGeom prst="ellipse">
            <a:avLst/>
          </a:prstGeom>
          <a:solidFill>
            <a:srgbClr val="00606E">
              <a:alpha val="20000"/>
            </a:srgbClr>
          </a:solidFill>
          <a:ln w="12700">
            <a:solidFill>
              <a:srgbClr val="00606E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822960"/>
            <a:ext cx="2743200" cy="2743200"/>
          </a:xfrm>
          <a:prstGeom prst="ellipse">
            <a:avLst/>
          </a:prstGeom>
          <a:solidFill>
            <a:srgbClr val="008C9E">
              <a:alpha val="30000"/>
            </a:srgbClr>
          </a:solidFill>
          <a:ln w="12700">
            <a:solidFill>
              <a:srgbClr val="008C9E">
                <a:alpha val="3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594360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</a:t>
            </a:r>
            <a:endParaRPr lang="en-US" sz="10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6517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Instrument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017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E-documentation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63931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 General Hospital  ·  Robotics OT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069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6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114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Robotic Instruments Is Demanding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" y="1719072"/>
            <a:ext cx="475488" cy="475488"/>
          </a:xfrm>
          <a:prstGeom prst="ellipse">
            <a:avLst/>
          </a:prstGeom>
          <a:solidFill>
            <a:srgbClr val="002D4A"/>
          </a:solidFill>
          <a:ln w="12700">
            <a:solidFill>
              <a:srgbClr val="002D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12648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216152" y="1325880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records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216152" y="1737360"/>
            <a:ext cx="3218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logs kept on paper — hard to search, error-prone, and slow to audit when something goes wrong.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14300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01768" y="1719072"/>
            <a:ext cx="475488" cy="475488"/>
          </a:xfrm>
          <a:prstGeom prst="ellipse">
            <a:avLst/>
          </a:prstGeom>
          <a:solidFill>
            <a:srgbClr val="00606E"/>
          </a:solidFill>
          <a:ln w="12700">
            <a:solidFill>
              <a:srgbClr val="0060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01768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605272" y="1325880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lifecycle visibility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05272" y="1737360"/>
            <a:ext cx="3218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view of remaining uses per instrument, making it hard to know when replacement is due.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2944368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" y="3520440"/>
            <a:ext cx="475488" cy="4754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" y="3520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16152" y="3127248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fault records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216152" y="3538728"/>
            <a:ext cx="3218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faults not consistently captured or linked to cases, obscuring recurring issues.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00600" y="2944368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01768" y="3520440"/>
            <a:ext cx="475488" cy="475488"/>
          </a:xfrm>
          <a:prstGeom prst="ellipse">
            <a:avLst/>
          </a:prstGeom>
          <a:solidFill>
            <a:srgbClr val="8B2252"/>
          </a:solidFill>
          <a:ln w="12700">
            <a:solidFill>
              <a:srgbClr val="8B22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01768" y="3520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605272" y="3127248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gaps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3538728"/>
            <a:ext cx="3218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records make incident review slow and difficult — reducing accountability when it matters most.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RISE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114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App. Complete Instrument Visibility.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is a purpose-built digital system for the Robotics OT team at Changi General Hospital.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tracks every robotic instrument and consumable across its full lifecycle — from first use to condemnation — and records every action in a tamper-evident audit trail.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a team where nothing should fall through the cracks.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0" y="118872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23560" y="126187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5623560" y="18745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135331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 · Consumables · Faults · Audit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0" y="242316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24963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3108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258775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 triggers an audit trail entry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0" y="365760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37307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5623560" y="43434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82219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are alerted if any audit write fails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RISE DOES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114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Modules. One System.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92608" y="1280160"/>
            <a:ext cx="1682496" cy="3246120"/>
          </a:xfrm>
          <a:prstGeom prst="roundRect">
            <a:avLst>
              <a:gd name="adj" fmla="val 4348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" y="1572768"/>
            <a:ext cx="603504" cy="603504"/>
          </a:xfrm>
          <a:prstGeom prst="ellipse">
            <a:avLst/>
          </a:prstGeom>
          <a:solidFill>
            <a:srgbClr val="002D4A"/>
          </a:solidFill>
          <a:ln w="12700">
            <a:solidFill>
              <a:srgbClr val="002D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2104" y="15727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233172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84048" y="2816352"/>
            <a:ext cx="1499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overview of all instruments and consumables at a glance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066544" y="1280160"/>
            <a:ext cx="1682496" cy="3246120"/>
          </a:xfrm>
          <a:prstGeom prst="roundRect">
            <a:avLst>
              <a:gd name="adj" fmla="val 4348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06040" y="1572768"/>
            <a:ext cx="603504" cy="603504"/>
          </a:xfrm>
          <a:prstGeom prst="ellipse">
            <a:avLst/>
          </a:prstGeom>
          <a:solidFill>
            <a:srgbClr val="00606E"/>
          </a:solidFill>
          <a:ln w="12700">
            <a:solidFill>
              <a:srgbClr val="0060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15727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39696" y="233172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57984" y="2816352"/>
            <a:ext cx="1499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status, use count, and lifecycle of every robotic instrument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40480" y="1280160"/>
            <a:ext cx="1682496" cy="3246120"/>
          </a:xfrm>
          <a:prstGeom prst="roundRect">
            <a:avLst>
              <a:gd name="adj" fmla="val 4348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9976" y="1572768"/>
            <a:ext cx="603504" cy="603504"/>
          </a:xfrm>
          <a:prstGeom prst="ellipse">
            <a:avLst/>
          </a:prstGeom>
          <a:solidFill>
            <a:srgbClr val="008C9E"/>
          </a:solidFill>
          <a:ln w="12700">
            <a:solidFill>
              <a:srgbClr val="008C9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79976" y="15727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33172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Consumables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2816352"/>
            <a:ext cx="1499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stock balance and expiry dates for all consumable items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14416" y="1280160"/>
            <a:ext cx="1682496" cy="3246120"/>
          </a:xfrm>
          <a:prstGeom prst="roundRect">
            <a:avLst>
              <a:gd name="adj" fmla="val 4348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3912" y="1572768"/>
            <a:ext cx="603504" cy="6035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53912" y="15727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87568" y="233172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705856" y="2816352"/>
            <a:ext cx="1499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track equipment faults linked to specific surgical cases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88352" y="1280160"/>
            <a:ext cx="1682496" cy="3246120"/>
          </a:xfrm>
          <a:prstGeom prst="roundRect">
            <a:avLst>
              <a:gd name="adj" fmla="val 4348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27848" y="1572768"/>
            <a:ext cx="603504" cy="603504"/>
          </a:xfrm>
          <a:prstGeom prst="ellipse">
            <a:avLst/>
          </a:prstGeom>
          <a:solidFill>
            <a:srgbClr val="1A7A52"/>
          </a:solidFill>
          <a:ln w="12700">
            <a:solidFill>
              <a:srgbClr val="1A7A5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27848" y="15727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461504" y="233172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79792" y="2816352"/>
            <a:ext cx="1499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record of every action — who did what, when, and why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NET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114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Action. Always Recorded.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61872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is the most critical feature in RISE. Every write operation — logging instrument use, recording a fault, changing a status — follows a two-phase pattern that guarantees no action goes unrecorded.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395728"/>
            <a:ext cx="420624" cy="420624"/>
          </a:xfrm>
          <a:prstGeom prst="ellipse">
            <a:avLst/>
          </a:prstGeom>
          <a:solidFill>
            <a:srgbClr val="1A7A52"/>
          </a:solidFill>
          <a:ln w="12700">
            <a:solidFill>
              <a:srgbClr val="1A7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4140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Primary data saved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record is written first (status change, use count, etc.).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420624" cy="420624"/>
          </a:xfrm>
          <a:prstGeom prst="ellipse">
            <a:avLst/>
          </a:prstGeom>
          <a:solidFill>
            <a:srgbClr val="00606E"/>
          </a:solidFill>
          <a:ln w="12700">
            <a:solidFill>
              <a:srgbClr val="0060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32552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Audit entry created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3566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permanent audit record is immediately written as a second step.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4078224"/>
            <a:ext cx="420624" cy="42062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078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40965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alert if audit fails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407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audit write fails, staff are warned on-screen to record it manually — no silent failures.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120640" y="1170432"/>
            <a:ext cx="3657600" cy="475488"/>
          </a:xfrm>
          <a:prstGeom prst="roundRect">
            <a:avLst>
              <a:gd name="adj" fmla="val 11538"/>
            </a:avLst>
          </a:prstGeom>
          <a:solidFill>
            <a:srgbClr val="002D4A"/>
          </a:solidFill>
          <a:ln w="12700">
            <a:solidFill>
              <a:srgbClr val="002D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117043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records an action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16824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120640" y="2011680"/>
            <a:ext cx="3657600" cy="475488"/>
          </a:xfrm>
          <a:prstGeom prst="roundRect">
            <a:avLst>
              <a:gd name="adj" fmla="val 11538"/>
            </a:avLst>
          </a:prstGeom>
          <a:solidFill>
            <a:srgbClr val="1A7A52"/>
          </a:solidFill>
          <a:ln w="12700">
            <a:solidFill>
              <a:srgbClr val="1A7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201168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Primary data saved  ✓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523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120640" y="2852928"/>
            <a:ext cx="3657600" cy="475488"/>
          </a:xfrm>
          <a:prstGeom prst="roundRect">
            <a:avLst>
              <a:gd name="adj" fmla="val 11538"/>
            </a:avLst>
          </a:prstGeom>
          <a:solidFill>
            <a:srgbClr val="00606E"/>
          </a:solidFill>
          <a:ln w="12700">
            <a:solidFill>
              <a:srgbClr val="0060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0" y="285292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Audit entry created  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3649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120640" y="3694176"/>
            <a:ext cx="1719072" cy="475488"/>
          </a:xfrm>
          <a:prstGeom prst="roundRect">
            <a:avLst>
              <a:gd name="adj" fmla="val 11538"/>
            </a:avLst>
          </a:prstGeom>
          <a:solidFill>
            <a:srgbClr val="1A7A52"/>
          </a:solidFill>
          <a:ln w="12700">
            <a:solidFill>
              <a:srgbClr val="1A7A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0" y="369417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59168" y="3694176"/>
            <a:ext cx="1719072" cy="47548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59168" y="369417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Alert: record manually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114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Web App to Microsoft PowerApps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3886200" cy="3639312"/>
          </a:xfrm>
          <a:prstGeom prst="roundRect">
            <a:avLst>
              <a:gd name="adj" fmla="val 2010"/>
            </a:avLst>
          </a:prstGeom>
          <a:solidFill>
            <a:srgbClr val="F0F4F6"/>
          </a:solidFill>
          <a:ln w="12700">
            <a:solidFill>
              <a:srgbClr val="C0CD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371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Custom web app (HTML + JavaScript)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Google Apps Script REST backend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2549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Google Sheets as the database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0098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GitHub Pages hosting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7647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Browser-only access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315968" y="260604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886200" cy="3639312"/>
          </a:xfrm>
          <a:prstGeom prst="roundRect">
            <a:avLst>
              <a:gd name="adj" fmla="val 2010"/>
            </a:avLst>
          </a:prstGeom>
          <a:solidFill>
            <a:srgbClr val="EBF5F7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38928" y="1371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38928" y="187452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PowerApps Canvas App (mobile + desktop)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138928" y="235000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SharePoint Lists as the database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282549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Direct Patch() — no Power Automate needed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138928" y="330098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Standard M365 licence — no premium cost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138928" y="377647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Full audit trail with offline-resilient alerts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50" kern="0" dirty="0">
                <a:solidFill>
                  <a:srgbClr val="00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114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Patient Safety and Accountability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" y="1719072"/>
            <a:ext cx="475488" cy="475488"/>
          </a:xfrm>
          <a:prstGeom prst="ellipse">
            <a:avLst/>
          </a:prstGeom>
          <a:solidFill>
            <a:srgbClr val="00606E"/>
          </a:solidFill>
          <a:ln w="12700">
            <a:solidFill>
              <a:srgbClr val="0060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12648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216152" y="1307592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instruments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216152" y="1728216"/>
            <a:ext cx="32186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use counts and status flags mean instruments are never unknowingly overused or overlooked.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14300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01768" y="1719072"/>
            <a:ext cx="475488" cy="475488"/>
          </a:xfrm>
          <a:prstGeom prst="ellipse">
            <a:avLst/>
          </a:prstGeom>
          <a:solidFill>
            <a:srgbClr val="1A7A52"/>
          </a:solidFill>
          <a:ln w="12700">
            <a:solidFill>
              <a:srgbClr val="1A7A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01768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605272" y="1307592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Airtight audit trail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605272" y="1728216"/>
            <a:ext cx="32186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permanently recorded, making incident review fast, accurate, and trustworthy.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2944368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" y="3520440"/>
            <a:ext cx="475488" cy="475488"/>
          </a:xfrm>
          <a:prstGeom prst="ellipse">
            <a:avLst/>
          </a:prstGeom>
          <a:solidFill>
            <a:srgbClr val="002D4A"/>
          </a:solidFill>
          <a:ln w="12700">
            <a:solidFill>
              <a:srgbClr val="002D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" y="3520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16152" y="3108960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operations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216152" y="3529584"/>
            <a:ext cx="32186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workflows replace manual paperwork, saving time and reducing transcription errors in busy OT sessions.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00600" y="2944368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8E0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01768" y="3520440"/>
            <a:ext cx="475488" cy="475488"/>
          </a:xfrm>
          <a:prstGeom prst="ellipse">
            <a:avLst/>
          </a:prstGeom>
          <a:solidFill>
            <a:srgbClr val="8B2252"/>
          </a:solidFill>
          <a:ln w="12700">
            <a:solidFill>
              <a:srgbClr val="8B22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01768" y="3520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605272" y="3108960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operational risk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3529584"/>
            <a:ext cx="32186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fault tracking and lifecycle alerts help prevent equipment failures before they happen.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2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2286000"/>
            <a:ext cx="4754880" cy="4754880"/>
          </a:xfrm>
          <a:prstGeom prst="ellipse">
            <a:avLst/>
          </a:prstGeom>
          <a:solidFill>
            <a:srgbClr val="00606E">
              <a:alpha val="20000"/>
            </a:srgbClr>
          </a:solidFill>
          <a:ln w="12700">
            <a:solidFill>
              <a:srgbClr val="00606E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731520"/>
            <a:ext cx="2743200" cy="2743200"/>
          </a:xfrm>
          <a:prstGeom prst="ellipse">
            <a:avLst/>
          </a:prstGeom>
          <a:solidFill>
            <a:srgbClr val="008C9E">
              <a:alpha val="30000"/>
            </a:srgbClr>
          </a:solidFill>
          <a:ln w="12700">
            <a:solidFill>
              <a:srgbClr val="008C9E">
                <a:alpha val="3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286000" y="6858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2331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Instrument Smart E-documentation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834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 General Hospital  ·  Robotics OT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40156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team. Designed for safety.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6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Contact the RISE team.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2026-09-14T01:51:15Z</dcterms:created>
  <dcterms:modified xsi:type="dcterms:W3CDTF">2026-09-14T01:51:15Z</dcterms:modified>
</cp:coreProperties>
</file>